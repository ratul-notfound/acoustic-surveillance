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13"/>
  </p:notesMasterIdLst>
  <p:sldIdLst>
    <p:sldId id="256" r:id="rId2"/>
    <p:sldId id="264" r:id="rId3"/>
    <p:sldId id="280" r:id="rId4"/>
    <p:sldId id="303" r:id="rId5"/>
    <p:sldId id="302" r:id="rId6"/>
    <p:sldId id="299" r:id="rId7"/>
    <p:sldId id="300" r:id="rId8"/>
    <p:sldId id="301" r:id="rId9"/>
    <p:sldId id="298" r:id="rId10"/>
    <p:sldId id="304" r:id="rId11"/>
    <p:sldId id="295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6168" autoAdjust="0"/>
  </p:normalViewPr>
  <p:slideViewPr>
    <p:cSldViewPr>
      <p:cViewPr varScale="1">
        <p:scale>
          <a:sx n="108" d="100"/>
          <a:sy n="108" d="100"/>
        </p:scale>
        <p:origin x="660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zzadur Ahamed" userId="8f49328ae0887731" providerId="LiveId" clId="{B183DD02-3410-4FA1-9C0D-0B5A4D254714}"/>
    <pc:docChg chg="undo custSel addSld delSld modSld sldOrd modMainMaster">
      <pc:chgData name="Sazzadur Ahamed" userId="8f49328ae0887731" providerId="LiveId" clId="{B183DD02-3410-4FA1-9C0D-0B5A4D254714}" dt="2026-01-13T08:45:16.439" v="255" actId="14100"/>
      <pc:docMkLst>
        <pc:docMk/>
      </pc:docMkLst>
      <pc:sldChg chg="delSp modSp">
        <pc:chgData name="Sazzadur Ahamed" userId="8f49328ae0887731" providerId="LiveId" clId="{B183DD02-3410-4FA1-9C0D-0B5A4D254714}" dt="2026-01-13T08:45:16.439" v="255" actId="14100"/>
        <pc:sldMkLst>
          <pc:docMk/>
          <pc:sldMk cId="0" sldId="256"/>
        </pc:sldMkLst>
        <pc:spChg chg="mod">
          <ac:chgData name="Sazzadur Ahamed" userId="8f49328ae0887731" providerId="LiveId" clId="{B183DD02-3410-4FA1-9C0D-0B5A4D254714}" dt="2026-01-13T08:45:16.439" v="255" actId="14100"/>
          <ac:spMkLst>
            <pc:docMk/>
            <pc:sldMk cId="0" sldId="256"/>
            <ac:spMk id="5" creationId="{00000000-0000-0000-0000-000000000000}"/>
          </ac:spMkLst>
        </pc:spChg>
        <pc:spChg chg="del">
          <ac:chgData name="Sazzadur Ahamed" userId="8f49328ae0887731" providerId="LiveId" clId="{B183DD02-3410-4FA1-9C0D-0B5A4D254714}" dt="2026-01-13T08:44:56.194" v="245" actId="478"/>
          <ac:spMkLst>
            <pc:docMk/>
            <pc:sldMk cId="0" sldId="256"/>
            <ac:spMk id="4100" creationId="{00000000-0000-0000-0000-000000000000}"/>
          </ac:spMkLst>
        </pc:spChg>
      </pc:sldChg>
      <pc:sldChg chg="modSp">
        <pc:chgData name="Sazzadur Ahamed" userId="8f49328ae0887731" providerId="LiveId" clId="{B183DD02-3410-4FA1-9C0D-0B5A4D254714}" dt="2026-01-13T08:43:51.907" v="221" actId="20577"/>
        <pc:sldMkLst>
          <pc:docMk/>
          <pc:sldMk cId="0" sldId="264"/>
        </pc:sldMkLst>
        <pc:spChg chg="mod">
          <ac:chgData name="Sazzadur Ahamed" userId="8f49328ae0887731" providerId="LiveId" clId="{B183DD02-3410-4FA1-9C0D-0B5A4D254714}" dt="2026-01-13T08:43:51.907" v="221" actId="20577"/>
          <ac:spMkLst>
            <pc:docMk/>
            <pc:sldMk cId="0" sldId="264"/>
            <ac:spMk id="3" creationId="{00000000-0000-0000-0000-000000000000}"/>
          </ac:spMkLst>
        </pc:spChg>
      </pc:sldChg>
      <pc:sldChg chg="ord">
        <pc:chgData name="Sazzadur Ahamed" userId="8f49328ae0887731" providerId="LiveId" clId="{B183DD02-3410-4FA1-9C0D-0B5A4D254714}" dt="2026-01-13T08:40:45.025" v="133"/>
        <pc:sldMkLst>
          <pc:docMk/>
          <pc:sldMk cId="1295605191" sldId="280"/>
        </pc:sldMkLst>
      </pc:sldChg>
      <pc:sldChg chg="del ord">
        <pc:chgData name="Sazzadur Ahamed" userId="8f49328ae0887731" providerId="LiveId" clId="{B183DD02-3410-4FA1-9C0D-0B5A4D254714}" dt="2026-01-13T08:41:16.102" v="136" actId="2696"/>
        <pc:sldMkLst>
          <pc:docMk/>
          <pc:sldMk cId="825664896" sldId="293"/>
        </pc:sldMkLst>
      </pc:sldChg>
      <pc:sldChg chg="modSp">
        <pc:chgData name="Sazzadur Ahamed" userId="8f49328ae0887731" providerId="LiveId" clId="{B183DD02-3410-4FA1-9C0D-0B5A4D254714}" dt="2026-01-13T08:42:05.144" v="152" actId="20577"/>
        <pc:sldMkLst>
          <pc:docMk/>
          <pc:sldMk cId="1026547098" sldId="299"/>
        </pc:sldMkLst>
        <pc:spChg chg="mod">
          <ac:chgData name="Sazzadur Ahamed" userId="8f49328ae0887731" providerId="LiveId" clId="{B183DD02-3410-4FA1-9C0D-0B5A4D254714}" dt="2026-01-13T08:42:05.144" v="152" actId="20577"/>
          <ac:spMkLst>
            <pc:docMk/>
            <pc:sldMk cId="1026547098" sldId="299"/>
            <ac:spMk id="2" creationId="{3C06ACC6-4944-BAC2-F177-2B401DFE20DA}"/>
          </ac:spMkLst>
        </pc:spChg>
      </pc:sldChg>
      <pc:sldChg chg="modSp">
        <pc:chgData name="Sazzadur Ahamed" userId="8f49328ae0887731" providerId="LiveId" clId="{B183DD02-3410-4FA1-9C0D-0B5A4D254714}" dt="2026-01-13T08:42:20.423" v="153"/>
        <pc:sldMkLst>
          <pc:docMk/>
          <pc:sldMk cId="64320671" sldId="300"/>
        </pc:sldMkLst>
        <pc:spChg chg="mod">
          <ac:chgData name="Sazzadur Ahamed" userId="8f49328ae0887731" providerId="LiveId" clId="{B183DD02-3410-4FA1-9C0D-0B5A4D254714}" dt="2026-01-13T08:42:20.423" v="153"/>
          <ac:spMkLst>
            <pc:docMk/>
            <pc:sldMk cId="64320671" sldId="300"/>
            <ac:spMk id="2" creationId="{E5545561-8C72-6804-E4E6-A84D47F104D0}"/>
          </ac:spMkLst>
        </pc:spChg>
      </pc:sldChg>
      <pc:sldChg chg="modSp">
        <pc:chgData name="Sazzadur Ahamed" userId="8f49328ae0887731" providerId="LiveId" clId="{B183DD02-3410-4FA1-9C0D-0B5A4D254714}" dt="2026-01-13T08:43:11.032" v="201" actId="20577"/>
        <pc:sldMkLst>
          <pc:docMk/>
          <pc:sldMk cId="2884450143" sldId="301"/>
        </pc:sldMkLst>
        <pc:spChg chg="mod">
          <ac:chgData name="Sazzadur Ahamed" userId="8f49328ae0887731" providerId="LiveId" clId="{B183DD02-3410-4FA1-9C0D-0B5A4D254714}" dt="2026-01-13T08:43:11.032" v="201" actId="20577"/>
          <ac:spMkLst>
            <pc:docMk/>
            <pc:sldMk cId="2884450143" sldId="301"/>
            <ac:spMk id="2" creationId="{305850B3-F19E-7C6E-5F6E-3BD95AE44560}"/>
          </ac:spMkLst>
        </pc:spChg>
      </pc:sldChg>
      <pc:sldChg chg="ord">
        <pc:chgData name="Sazzadur Ahamed" userId="8f49328ae0887731" providerId="LiveId" clId="{B183DD02-3410-4FA1-9C0D-0B5A4D254714}" dt="2026-01-13T08:41:50.503" v="142"/>
        <pc:sldMkLst>
          <pc:docMk/>
          <pc:sldMk cId="121828964" sldId="302"/>
        </pc:sldMkLst>
      </pc:sldChg>
      <pc:sldChg chg="modSp add">
        <pc:chgData name="Sazzadur Ahamed" userId="8f49328ae0887731" providerId="LiveId" clId="{B183DD02-3410-4FA1-9C0D-0B5A4D254714}" dt="2026-01-13T08:41:41.331" v="141" actId="1076"/>
        <pc:sldMkLst>
          <pc:docMk/>
          <pc:sldMk cId="1152814439" sldId="303"/>
        </pc:sldMkLst>
        <pc:spChg chg="mod">
          <ac:chgData name="Sazzadur Ahamed" userId="8f49328ae0887731" providerId="LiveId" clId="{B183DD02-3410-4FA1-9C0D-0B5A4D254714}" dt="2026-01-13T08:41:41.331" v="141" actId="1076"/>
          <ac:spMkLst>
            <pc:docMk/>
            <pc:sldMk cId="1152814439" sldId="303"/>
            <ac:spMk id="2" creationId="{00000000-0000-0000-0000-000000000000}"/>
          </ac:spMkLst>
        </pc:spChg>
      </pc:sldChg>
      <pc:sldChg chg="modSp add">
        <pc:chgData name="Sazzadur Ahamed" userId="8f49328ae0887731" providerId="LiveId" clId="{B183DD02-3410-4FA1-9C0D-0B5A4D254714}" dt="2026-01-13T08:44:13.818" v="240" actId="20577"/>
        <pc:sldMkLst>
          <pc:docMk/>
          <pc:sldMk cId="479742792" sldId="304"/>
        </pc:sldMkLst>
        <pc:spChg chg="mod">
          <ac:chgData name="Sazzadur Ahamed" userId="8f49328ae0887731" providerId="LiveId" clId="{B183DD02-3410-4FA1-9C0D-0B5A4D254714}" dt="2026-01-13T08:44:13.818" v="240" actId="20577"/>
          <ac:spMkLst>
            <pc:docMk/>
            <pc:sldMk cId="479742792" sldId="304"/>
            <ac:spMk id="2" creationId="{278529A4-43BD-CC77-7F19-34228C3DF8D1}"/>
          </ac:spMkLst>
        </pc:spChg>
      </pc:sldChg>
      <pc:sldMasterChg chg="modSldLayout">
        <pc:chgData name="Sazzadur Ahamed" userId="8f49328ae0887731" providerId="LiveId" clId="{B183DD02-3410-4FA1-9C0D-0B5A4D254714}" dt="2026-01-13T08:44:49.455" v="244" actId="1076"/>
        <pc:sldMasterMkLst>
          <pc:docMk/>
          <pc:sldMasterMk cId="0" sldId="2147483659"/>
        </pc:sldMasterMkLst>
        <pc:sldLayoutChg chg="delSp modSp">
          <pc:chgData name="Sazzadur Ahamed" userId="8f49328ae0887731" providerId="LiveId" clId="{B183DD02-3410-4FA1-9C0D-0B5A4D254714}" dt="2026-01-13T08:44:49.455" v="244" actId="1076"/>
          <pc:sldLayoutMkLst>
            <pc:docMk/>
            <pc:sldMasterMk cId="0" sldId="2147483659"/>
            <pc:sldLayoutMk cId="0" sldId="2147483672"/>
          </pc:sldLayoutMkLst>
          <pc:spChg chg="mod">
            <ac:chgData name="Sazzadur Ahamed" userId="8f49328ae0887731" providerId="LiveId" clId="{B183DD02-3410-4FA1-9C0D-0B5A4D254714}" dt="2026-01-13T08:44:49.455" v="244" actId="1076"/>
            <ac:spMkLst>
              <pc:docMk/>
              <pc:sldMasterMk cId="0" sldId="2147483659"/>
              <pc:sldLayoutMk cId="0" sldId="2147483672"/>
              <ac:spMk id="3" creationId="{00000000-0000-0000-0000-000000000000}"/>
            </ac:spMkLst>
          </pc:spChg>
          <pc:spChg chg="mod">
            <ac:chgData name="Sazzadur Ahamed" userId="8f49328ae0887731" providerId="LiveId" clId="{B183DD02-3410-4FA1-9C0D-0B5A4D254714}" dt="2026-01-13T08:44:43.471" v="243" actId="1076"/>
            <ac:spMkLst>
              <pc:docMk/>
              <pc:sldMasterMk cId="0" sldId="2147483659"/>
              <pc:sldLayoutMk cId="0" sldId="2147483672"/>
              <ac:spMk id="7" creationId="{00000000-0000-0000-0000-000000000000}"/>
            </ac:spMkLst>
          </pc:spChg>
          <pc:spChg chg="del">
            <ac:chgData name="Sazzadur Ahamed" userId="8f49328ae0887731" providerId="LiveId" clId="{B183DD02-3410-4FA1-9C0D-0B5A4D254714}" dt="2026-01-13T08:44:33.110" v="241" actId="478"/>
            <ac:spMkLst>
              <pc:docMk/>
              <pc:sldMasterMk cId="0" sldId="2147483659"/>
              <pc:sldLayoutMk cId="0" sldId="2147483672"/>
              <ac:spMk id="8" creationId="{00000000-0000-0000-0000-000000000000}"/>
            </ac:spMkLst>
          </pc:spChg>
          <pc:spChg chg="del">
            <ac:chgData name="Sazzadur Ahamed" userId="8f49328ae0887731" providerId="LiveId" clId="{B183DD02-3410-4FA1-9C0D-0B5A4D254714}" dt="2026-01-13T08:44:35.429" v="242" actId="478"/>
            <ac:spMkLst>
              <pc:docMk/>
              <pc:sldMasterMk cId="0" sldId="2147483659"/>
              <pc:sldLayoutMk cId="0" sldId="2147483672"/>
              <ac:spMk id="2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759200" y="3222625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400" y="3962401"/>
            <a:ext cx="5181600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algn="ctr">
              <a:defRPr/>
            </a:pPr>
            <a:r>
              <a:rPr sz="2800" b="1" i="0">
                <a:solidFill>
                  <a:srgbClr val="7030A0"/>
                </a:solidFill>
                <a:latin typeface="Times New Roman"/>
              </a:rPr>
              <a:t>Edge AI-Powered Acoustic Surveillance System for Forest Protection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886200" y="3733800"/>
            <a:ext cx="4800600" cy="2438400"/>
          </a:xfrm>
        </p:spPr>
        <p:txBody>
          <a:bodyPr rtlCol="0">
            <a:normAutofit/>
          </a:bodyPr>
          <a:lstStyle/>
          <a:p>
            <a:pPr algn="ctr"/>
            <a:r>
              <a:rPr sz="1800" b="1" i="0">
                <a:solidFill>
                  <a:srgbClr val="002060"/>
                </a:solidFill>
                <a:latin typeface="Times New Roman"/>
              </a:rPr>
              <a:t>[Student Name 1]</a:t>
            </a:r>
            <a:endParaRPr lang="en-US" sz="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600" b="0" i="0">
                <a:solidFill>
                  <a:srgbClr val="222222"/>
                </a:solidFill>
                <a:latin typeface="Times New Roman"/>
              </a:rPr>
              <a:t>ID : [Student ID 1]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0B050"/>
                </a:solidFill>
                <a:latin typeface="Times New Roman"/>
              </a:rPr>
              <a:t>And</a:t>
            </a:r>
          </a:p>
          <a:p>
            <a:pPr algn="ctr"/>
            <a:r>
              <a:rPr sz="1800" b="1" i="0">
                <a:solidFill>
                  <a:srgbClr val="002060"/>
                </a:solidFill>
                <a:latin typeface="Times New Roman"/>
              </a:rPr>
              <a:t>[Student Name 2]</a:t>
            </a:r>
          </a:p>
          <a:p>
            <a:pPr algn="ctr"/>
            <a:r>
              <a:rPr sz="1600" b="0" i="0">
                <a:solidFill>
                  <a:srgbClr val="222222"/>
                </a:solidFill>
                <a:latin typeface="Times New Roman"/>
              </a:rPr>
              <a:t>ID : [Student ID 2]</a:t>
            </a:r>
          </a:p>
          <a:p>
            <a:pPr algn="ctr">
              <a:spcBef>
                <a:spcPts val="1200"/>
              </a:spcBef>
            </a:pPr>
            <a:r>
              <a:rPr sz="1600" b="1" i="0">
                <a:solidFill>
                  <a:srgbClr val="002060"/>
                </a:solidFill>
                <a:latin typeface="Times New Roman"/>
              </a:rPr>
              <a:t>Department of Computer Science and Engineering</a:t>
            </a:r>
          </a:p>
          <a:p>
            <a:pPr algn="ctr"/>
            <a:r>
              <a:rPr sz="1600" b="0" i="0">
                <a:solidFill>
                  <a:srgbClr val="002060"/>
                </a:solidFill>
                <a:latin typeface="Times New Roman"/>
              </a:rPr>
              <a:t>Daffodil International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1. Introduction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2. Background Study / Literature Review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3. Gap Analysis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4. Objective and Motivation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5. Novelty of this Study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6. Datasets, Tools and Techniques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7. Proposed Methodology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8. Expected Outcomes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Times New Roman"/>
              </a:rPr>
              <a:t>9. Q &amp;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spcBef>
                <a:spcPts val="20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Global Forest Degradation &amp; Biodiversity Crisis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Forests cover 4.06B hectares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(31% Earth's land area) supporting 90% terrestrial biodiversity.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Global forest loss: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10–25 million hectares annually, driven predominantly by illegal logging.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2060"/>
                </a:solidFill>
                <a:latin typeface="Times New Roman"/>
              </a:rPr>
              <a:t>Limitations of Traditional Monitoring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Manual ranger patrolling: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Expensive, labor-intensive, hazardous, and fails to provide 24/7 coverage.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Remote monitoring need: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Automated, low-power, continuous acoustic surveillance in deep forests.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2060"/>
                </a:solidFill>
                <a:latin typeface="Times New Roman"/>
              </a:rPr>
              <a:t>Acoustic Signal Surveillance Opportunity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Distinct acoustic signatures: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Chainsaws, tree cutting, gunshots, vehicles, and human activity emit clear sound profiles.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B050"/>
                </a:solidFill>
                <a:latin typeface="Times New Roman"/>
              </a:rPr>
              <a:t>Proposed Edge AI Solution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TinyML on ESP32-S3 MCU: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27.4 KB INT8 model classifying 20 sound categories with 9.5 ms latency.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Perpetual autonomous operation: 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Solar-harvested power system with adaptive dual-mode LoRa + GSM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9144000" cy="868362"/>
          </a:xfrm>
        </p:spPr>
        <p:txBody>
          <a:bodyPr>
            <a:normAutofit fontScale="90000"/>
          </a:bodyPr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Background Study/Literature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76400"/>
          <a:ext cx="109728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22960"/>
                <a:gridCol w="2926080"/>
                <a:gridCol w="1280160"/>
                <a:gridCol w="3931920"/>
              </a:tblGrid>
              <a:tr h="6604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Paper / Author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Year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Method &amp; Architecture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Classes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Key Results &amp; Platform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Singh et al. (IEEE Sensors J.)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STHT Spectrogram + SVM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5 Classes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96.61% Accuracy (32-bit MCU + LoRa)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Singh et al. (IEEE Systems J.)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Gammatone Wavelet + PSO-SVM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4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98.55% Accuracy (32-bit MCU)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Ayankoso et al. (JDMD)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1D CNN + LSTM Ensemble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3 Classes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89.14% Accuracy (RPi Pico + LoRa)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Mohmmad et al. (IEEE Access)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TCN + Transformer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4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97.48% Accuracy (Requires GPU)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ForNet (Scientific Reports)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CNN Embeddings + XGBoost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5 Classes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22222"/>
                          </a:solidFill>
                          <a:latin typeface="Times New Roman"/>
                        </a:rPr>
                        <a:t>91.40% Accuracy (Server-based)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81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A606-7A4D-49E8-FD3D-682102C96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1064-DDC2-8140-E554-385A791B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6B71-21FD-04D6-556B-38CE32A5EA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Gap 1: Severely Restricted Sound Taxonomy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All 33 reviewed papers classify only 2–5 sound classes; real forest protection requires multi-class (15+) threat coverage.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Gap 2: Lack of True Microcontroller Edge Deployment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High-accuracy models (97%+) rely on GPU/cloud servers; MCU implementations handle only 2–3 basic classes.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Gap 3: Short Battery Autonomy &amp; No Solar Budget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Existing nodes last only 4–10 hours on battery; no prior work provides a complete solar harvesting budget.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Gap 4: Single-Mode Telemetry Vulnerability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Systems rely solely on LoRa (fails without gateway) or GSM (high battery drain); no adaptive dual-mode system exists.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Gap 5: Analog Signal Noise &amp; Lack of PCEN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Analog electret mics suffer from noise; Per-Channel Energy Normalization (PCEN) has never been applied to forest acoustics.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6A18D-A965-E706-08E3-07D58DEAE3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2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D7E1D-7696-3342-8575-E29B24C51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ACC6-4944-BAC2-F177-2B401DFE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Objective and 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463C8-4F0D-351E-DE6B-3C8A65B7E0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spcBef>
                <a:spcPts val="20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Primary Research Objectives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002060"/>
                </a:solidFill>
                <a:latin typeface="Times New Roman"/>
              </a:rPr>
              <a:t>20-Class SE-DS-CNN Model: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Deploy a 27.4 KB INT8 quantized binary on ESP32-S3 with &lt;10 ms latency.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002060"/>
                </a:solidFill>
                <a:latin typeface="Times New Roman"/>
              </a:rPr>
              <a:t>PCEN Feature Extraction: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First application of Per-Channel Energy Normalization for outdoor noise adaptation.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002060"/>
                </a:solidFill>
                <a:latin typeface="Times New Roman"/>
              </a:rPr>
              <a:t>Solar-Sustained Node: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Design power budget needing only 1.6 hours daily sunlight for perpetual 24/7 operation.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002060"/>
                </a:solidFill>
                <a:latin typeface="Times New Roman"/>
              </a:rPr>
              <a:t>Adaptive Dual Telemetry: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Combine LoRa primary + GSM fallback with MOSFET zero-standby hardware power gating.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B050"/>
                </a:solidFill>
                <a:latin typeface="Times New Roman"/>
              </a:rPr>
              <a:t>Core Motivation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Protect Terrestrial Biodiversity: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Automate illegal logging detection to safeguard endangered forest habitats.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Bridge Theory &amp; Hardware: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Transition from lab/GPU models to an affordable (&lt;$50), field-deployable TinyML sensor node.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CEF74-9626-B0FA-E21C-74A5BD2BB1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54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D7963-5E83-1ED3-106C-70223D0A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5561-8C72-6804-E4E6-A84D47F1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Novelty of this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29DB-5137-851D-5D9C-7B22F7C5E8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1. Most Comprehensive Sound Taxonomy (20 Classes)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Expands state-of-the-art from 5 classes to 20 distinct categories (4× increase in classification coverage).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2. Smallest &amp; Fastest Edge-Deployed Forest Model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27.4 KB INT8 quantized model with 9.5 ms inference time on ESP32-S3 (Xtensa LX7 vector acceleration).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3. First Application of PCEN in Forest Acoustics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First system to utilize Per-Channel Energy Normalization for dynamic noise-floor adaptation in outdoor environments.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4. Perpetual Solar-Sustained Energy Architecture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5.4 days battery-only autonomy; requires only 1.6 hours of daily sunlight to maintain continuous 24/7 operation.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7030A0"/>
                </a:solidFill>
                <a:latin typeface="Times New Roman"/>
              </a:rPr>
              <a:t>5. Zero-Standby Dual LoRa + GSM Telemetry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Primary LoRa mesh with automatic GSM SMS fallback using MOSFET hardware power gating (0 mA standby draw).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063EB-E6DC-C0C0-0768-E8865B8083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0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C7AD-9C97-23E1-7CCC-1BD92A6E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50B3-F19E-7C6E-5F6E-3BD95AE4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Datasets, 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7DA11-A15F-956C-D182-0D413DDC78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F2EFF-F92F-B5AA-C42F-5484AB53EBD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76400"/>
          <a:ext cx="109728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9906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Dataset Specifications
(5,200 Audio Clips)</a:t>
                      </a:r>
                    </a:p>
                    <a:p>
                      <a:r>
                        <a:t>(5,200 Audio Clips)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20 Sound Classes: Chainsaw, Axe, Handsaw, Gunshot, Explosive, Machinery, Engine, Dirtbike, Drone, Speech, Screaming, Footsteps, Digging, Tree Fall, Campfire, Dog, Walkie-Talkie, Forest Ambient.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Sources: ESC-50, UrbanSound8K, RFCx, Google AudioSet, Freesound.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Format: 16 kHz, 16-bit Mono PCM WAV, 2s windows. 70/15/15 Stratified Split.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Hardware Stack &amp; Sensors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MCU: ESP32-S3 (Dual-Core 240 MHz, Xtensa LX7 Vector Extension).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Audio Sensor: INMP441 I2S Digital MEMS Omnidirectional Microphone.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Telemetry: RFM95W (SX1276) LoRa + SIM800L 2G GSM (MOSFET Gated).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Sensing &amp; Power: Neo-6M GPS, LIS3DH Accelerometer, LiFePO4 Battery + Solar Panel.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Software Frameworks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Python 3.x, TensorFlow / Keras, TensorFlow Lite Micro, Edge Impulse Studio.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C/C++ (Arduino IDE / ESP-IDF), Librosa, OpenPyXL, NumPy, Scikit-learn.</a:t>
                      </a:r>
                    </a:p>
                  </a:txBody>
                  <a:tcPr>
                    <a:solidFill>
                      <a:srgbClr val="F5F2FA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Signal Processing &amp; ML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Features: PCEN (Per-Channel Energy Normalization) &amp; MFE Spectrograms.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Architecture: SE-DS-CNN (Depthwise-Separable Conv + Squeeze-and-Excitation).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</a:rPr>
                        <a:t>• Optimization: INT8 Post-Training Quantization, 5-Fold Cross-Validation.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450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423E-7F8D-0DF0-FEA1-1B25B89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A4-43BD-CC77-7F19-34228C3D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07A5-8A8B-275D-FDE8-D3A5439C1B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spcBef>
                <a:spcPts val="20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Audio Processing Pipeline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INMP441 I2S Digital Mic (16 kHz) →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PCEN/MFE Feature Extraction → SE-DS-CNN INT8 Model → Alert Engine.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2060"/>
                </a:solidFill>
                <a:latin typeface="Times New Roman"/>
              </a:rPr>
              <a:t>SE-DS-CNN Model Architecture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Depthwise-Separable Convolutions: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Reduces MAC operations by 8–9× compared to standard 2D CNNs.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Squeeze-and-Excitation (SE) Blocks: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Learns channel-wise attention for frequency band weighting (+3–5% accuracy boost).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INT8 Post-Training Quantization: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Compresses FP32 model (110 KB) to 27.4 KB binary array with &lt;1% accuracy loss.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2060"/>
                </a:solidFill>
                <a:latin typeface="Times New Roman"/>
              </a:rPr>
              <a:t>Power Management &amp; Duty Cycle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Duty Cycle Schedule: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8s Deep Sleep (15–20 µA) → 2s Wake &amp; Sample (~100 mA) → &lt;200 ms Inference → Alert if Threat.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Solar-Harvested Autonomy: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5.4 days battery-only operation; requires only 1.6 hours daily sunlight for perpetual 24/7 power.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00B050"/>
                </a:solidFill>
                <a:latin typeface="Times New Roman"/>
              </a:rPr>
              <a:t>Adaptive Dual-Mode Telemetry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LoRa Primary + GSM Fallback: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Sends alerts via LoRa (~20 mA); falls back to GSM SMS powered via MOSFET (0 mA standby).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EBF-97A8-D64D-9C7B-B1394F03F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4" descr="methodology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11064240" cy="6193191"/>
          </a:xfrm>
          <a:prstGeom prst="rect">
            <a:avLst/>
          </a:prstGeom>
        </p:spPr>
      </p:pic>
      <p:pic>
        <p:nvPicPr>
          <p:cNvPr id="6" name="Picture 5" descr="methodology_workflo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11064240" cy="6310391"/>
          </a:xfrm>
          <a:prstGeom prst="rect">
            <a:avLst/>
          </a:prstGeom>
        </p:spPr>
      </p:pic>
      <p:pic>
        <p:nvPicPr>
          <p:cNvPr id="7" name="Picture 6" descr="research_methodology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4070725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5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423E-7F8D-0DF0-FEA1-1B25B89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A4-43BD-CC77-7F19-34228C3D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sz="2600" b="1" i="0">
                <a:solidFill>
                  <a:srgbClr val="7030A0"/>
                </a:solidFill>
                <a:latin typeface="Times New Roman"/>
              </a:rPr>
              <a:t>Expected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07A5-8A8B-275D-FDE8-D3A5439C1B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spcBef>
                <a:spcPts val="20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00B050"/>
                </a:solidFill>
                <a:latin typeface="Times New Roman"/>
              </a:rPr>
              <a:t>Phase 1 Verified Empirical Results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Overall Accuracy: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88.21% | Macro Precision: 91.26% | Macro F1-Score: 89.84%.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Perfect 1.00 F1-Score (11 Classes):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Axe, Explosive, Machinery, Speech, Dirtbike, Tree Falling, Engine, Footsteps-leaves, etc.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Hardware Benchmarks: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27.4 KB INT8 Binary | 9.5 ms Latency | 40 KB SRAM Arena | 15–20 µA Deep Sleep.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7030A0"/>
                </a:solidFill>
                <a:latin typeface="Times New Roman"/>
              </a:rPr>
              <a:t>Phase 2 Target Deliverables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Field-Tested Prototype: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IP67 weatherproof enclosed node deployed in real forest conditions.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Accuracy Optimization: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Fine-tune chainsaw/handsaw classification overlap (Chainsaw 82% → 90%+ target).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Cloud Dashboard &amp; Mobile App: 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Real-time alert map and SMS notification platform for forest authorities.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EBF-97A8-D64D-9C7B-B1394F03F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74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sz="4800" b="1" i="0">
                <a:solidFill>
                  <a:srgbClr val="7030A0"/>
                </a:solidFill>
                <a:latin typeface="Times New Roman"/>
              </a:rPr>
              <a:t>THANK YOU</a:t>
            </a: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1200"/>
              </a:spcBef>
            </a:pPr>
            <a:r>
              <a:rPr sz="2400" b="0" i="1">
                <a:solidFill>
                  <a:srgbClr val="002060"/>
                </a:solidFill>
                <a:latin typeface="Times New Roman"/>
              </a:rPr>
              <a:t>Questions &amp; Discussion</a:t>
            </a:r>
          </a:p>
          <a:p>
            <a:pPr algn="ctr">
              <a:spcBef>
                <a:spcPts val="2400"/>
              </a:spcBef>
            </a:pPr>
            <a:r>
              <a:rPr sz="1400" b="0" i="0">
                <a:solidFill>
                  <a:srgbClr val="646464"/>
                </a:solidFill>
                <a:latin typeface="Times New Roman"/>
              </a:rPr>
              <a:t>Edge AI-Powered Acoustic Surveillance System for Forest Protection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836</TotalTime>
  <Words>93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New Microsoft PowerPoint Presentation</vt:lpstr>
      <vt:lpstr>Weather Prediction Based on Real Time Data</vt:lpstr>
      <vt:lpstr>Outline</vt:lpstr>
      <vt:lpstr>Introduction</vt:lpstr>
      <vt:lpstr>Background Study/Literature Review</vt:lpstr>
      <vt:lpstr>Gap Analysis</vt:lpstr>
      <vt:lpstr>Objective and Motivation </vt:lpstr>
      <vt:lpstr>Novelty of this Study</vt:lpstr>
      <vt:lpstr>Datasets, Tools and Techniques</vt:lpstr>
      <vt:lpstr>Proposed Methodology</vt:lpstr>
      <vt:lpstr>Expected Outcomes 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Sazzadur Ahamed</cp:lastModifiedBy>
  <cp:revision>252</cp:revision>
  <dcterms:created xsi:type="dcterms:W3CDTF">2011-07-17T02:56:35Z</dcterms:created>
  <dcterms:modified xsi:type="dcterms:W3CDTF">2026-01-13T08:45:21Z</dcterms:modified>
</cp:coreProperties>
</file>