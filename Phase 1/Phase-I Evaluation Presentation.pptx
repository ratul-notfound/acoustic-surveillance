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0" r:id="rId4"/>
    <p:sldId id="303" r:id="rId5"/>
    <p:sldId id="302" r:id="rId6"/>
    <p:sldId id="299" r:id="rId7"/>
    <p:sldId id="300" r:id="rId8"/>
    <p:sldId id="301" r:id="rId9"/>
    <p:sldId id="298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6168" autoAdjust="0"/>
  </p:normalViewPr>
  <p:slideViewPr>
    <p:cSldViewPr>
      <p:cViewPr varScale="1">
        <p:scale>
          <a:sx n="108" d="100"/>
          <a:sy n="108" d="100"/>
        </p:scale>
        <p:origin x="66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zadur Ahamed" userId="8f49328ae0887731" providerId="LiveId" clId="{B183DD02-3410-4FA1-9C0D-0B5A4D254714}"/>
    <pc:docChg chg="undo custSel addSld delSld modSld sldOrd modMainMaster">
      <pc:chgData name="Sazzadur Ahamed" userId="8f49328ae0887731" providerId="LiveId" clId="{B183DD02-3410-4FA1-9C0D-0B5A4D254714}" dt="2026-01-13T08:45:16.439" v="255" actId="14100"/>
      <pc:docMkLst>
        <pc:docMk/>
      </pc:docMkLst>
      <pc:sldChg chg="delSp modSp">
        <pc:chgData name="Sazzadur Ahamed" userId="8f49328ae0887731" providerId="LiveId" clId="{B183DD02-3410-4FA1-9C0D-0B5A4D254714}" dt="2026-01-13T08:45:16.439" v="255" actId="14100"/>
        <pc:sldMkLst>
          <pc:docMk/>
          <pc:sldMk cId="0" sldId="256"/>
        </pc:sldMkLst>
        <pc:spChg chg="mod">
          <ac:chgData name="Sazzadur Ahamed" userId="8f49328ae0887731" providerId="LiveId" clId="{B183DD02-3410-4FA1-9C0D-0B5A4D254714}" dt="2026-01-13T08:45:16.439" v="255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Sazzadur Ahamed" userId="8f49328ae0887731" providerId="LiveId" clId="{B183DD02-3410-4FA1-9C0D-0B5A4D254714}" dt="2026-01-13T08:44:56.194" v="245" actId="478"/>
          <ac:spMkLst>
            <pc:docMk/>
            <pc:sldMk cId="0" sldId="256"/>
            <ac:spMk id="4100" creationId="{00000000-0000-0000-0000-000000000000}"/>
          </ac:spMkLst>
        </pc:spChg>
      </pc:sldChg>
      <pc:sldChg chg="modSp">
        <pc:chgData name="Sazzadur Ahamed" userId="8f49328ae0887731" providerId="LiveId" clId="{B183DD02-3410-4FA1-9C0D-0B5A4D254714}" dt="2026-01-13T08:43:51.907" v="221" actId="20577"/>
        <pc:sldMkLst>
          <pc:docMk/>
          <pc:sldMk cId="0" sldId="264"/>
        </pc:sldMkLst>
        <pc:spChg chg="mod">
          <ac:chgData name="Sazzadur Ahamed" userId="8f49328ae0887731" providerId="LiveId" clId="{B183DD02-3410-4FA1-9C0D-0B5A4D254714}" dt="2026-01-13T08:43:51.907" v="221" actId="20577"/>
          <ac:spMkLst>
            <pc:docMk/>
            <pc:sldMk cId="0" sldId="264"/>
            <ac:spMk id="3" creationId="{00000000-0000-0000-0000-000000000000}"/>
          </ac:spMkLst>
        </pc:spChg>
      </pc:sldChg>
      <pc:sldChg chg="ord">
        <pc:chgData name="Sazzadur Ahamed" userId="8f49328ae0887731" providerId="LiveId" clId="{B183DD02-3410-4FA1-9C0D-0B5A4D254714}" dt="2026-01-13T08:40:45.025" v="133"/>
        <pc:sldMkLst>
          <pc:docMk/>
          <pc:sldMk cId="1295605191" sldId="280"/>
        </pc:sldMkLst>
      </pc:sldChg>
      <pc:sldChg chg="del ord">
        <pc:chgData name="Sazzadur Ahamed" userId="8f49328ae0887731" providerId="LiveId" clId="{B183DD02-3410-4FA1-9C0D-0B5A4D254714}" dt="2026-01-13T08:41:16.102" v="136" actId="2696"/>
        <pc:sldMkLst>
          <pc:docMk/>
          <pc:sldMk cId="825664896" sldId="293"/>
        </pc:sldMkLst>
      </pc:sldChg>
      <pc:sldChg chg="modSp">
        <pc:chgData name="Sazzadur Ahamed" userId="8f49328ae0887731" providerId="LiveId" clId="{B183DD02-3410-4FA1-9C0D-0B5A4D254714}" dt="2026-01-13T08:42:05.144" v="152" actId="20577"/>
        <pc:sldMkLst>
          <pc:docMk/>
          <pc:sldMk cId="1026547098" sldId="299"/>
        </pc:sldMkLst>
        <pc:spChg chg="mod">
          <ac:chgData name="Sazzadur Ahamed" userId="8f49328ae0887731" providerId="LiveId" clId="{B183DD02-3410-4FA1-9C0D-0B5A4D254714}" dt="2026-01-13T08:42:05.144" v="152" actId="20577"/>
          <ac:spMkLst>
            <pc:docMk/>
            <pc:sldMk cId="1026547098" sldId="299"/>
            <ac:spMk id="2" creationId="{3C06ACC6-4944-BAC2-F177-2B401DFE20DA}"/>
          </ac:spMkLst>
        </pc:spChg>
      </pc:sldChg>
      <pc:sldChg chg="modSp">
        <pc:chgData name="Sazzadur Ahamed" userId="8f49328ae0887731" providerId="LiveId" clId="{B183DD02-3410-4FA1-9C0D-0B5A4D254714}" dt="2026-01-13T08:42:20.423" v="153"/>
        <pc:sldMkLst>
          <pc:docMk/>
          <pc:sldMk cId="64320671" sldId="300"/>
        </pc:sldMkLst>
        <pc:spChg chg="mod">
          <ac:chgData name="Sazzadur Ahamed" userId="8f49328ae0887731" providerId="LiveId" clId="{B183DD02-3410-4FA1-9C0D-0B5A4D254714}" dt="2026-01-13T08:42:20.423" v="153"/>
          <ac:spMkLst>
            <pc:docMk/>
            <pc:sldMk cId="64320671" sldId="300"/>
            <ac:spMk id="2" creationId="{E5545561-8C72-6804-E4E6-A84D47F104D0}"/>
          </ac:spMkLst>
        </pc:spChg>
      </pc:sldChg>
      <pc:sldChg chg="modSp">
        <pc:chgData name="Sazzadur Ahamed" userId="8f49328ae0887731" providerId="LiveId" clId="{B183DD02-3410-4FA1-9C0D-0B5A4D254714}" dt="2026-01-13T08:43:11.032" v="201" actId="20577"/>
        <pc:sldMkLst>
          <pc:docMk/>
          <pc:sldMk cId="2884450143" sldId="301"/>
        </pc:sldMkLst>
        <pc:spChg chg="mod">
          <ac:chgData name="Sazzadur Ahamed" userId="8f49328ae0887731" providerId="LiveId" clId="{B183DD02-3410-4FA1-9C0D-0B5A4D254714}" dt="2026-01-13T08:43:11.032" v="201" actId="20577"/>
          <ac:spMkLst>
            <pc:docMk/>
            <pc:sldMk cId="2884450143" sldId="301"/>
            <ac:spMk id="2" creationId="{305850B3-F19E-7C6E-5F6E-3BD95AE44560}"/>
          </ac:spMkLst>
        </pc:spChg>
      </pc:sldChg>
      <pc:sldChg chg="ord">
        <pc:chgData name="Sazzadur Ahamed" userId="8f49328ae0887731" providerId="LiveId" clId="{B183DD02-3410-4FA1-9C0D-0B5A4D254714}" dt="2026-01-13T08:41:50.503" v="142"/>
        <pc:sldMkLst>
          <pc:docMk/>
          <pc:sldMk cId="121828964" sldId="302"/>
        </pc:sldMkLst>
      </pc:sldChg>
      <pc:sldChg chg="modSp add">
        <pc:chgData name="Sazzadur Ahamed" userId="8f49328ae0887731" providerId="LiveId" clId="{B183DD02-3410-4FA1-9C0D-0B5A4D254714}" dt="2026-01-13T08:41:41.331" v="141" actId="1076"/>
        <pc:sldMkLst>
          <pc:docMk/>
          <pc:sldMk cId="1152814439" sldId="303"/>
        </pc:sldMkLst>
        <pc:spChg chg="mod">
          <ac:chgData name="Sazzadur Ahamed" userId="8f49328ae0887731" providerId="LiveId" clId="{B183DD02-3410-4FA1-9C0D-0B5A4D254714}" dt="2026-01-13T08:41:41.331" v="141" actId="1076"/>
          <ac:spMkLst>
            <pc:docMk/>
            <pc:sldMk cId="1152814439" sldId="303"/>
            <ac:spMk id="2" creationId="{00000000-0000-0000-0000-000000000000}"/>
          </ac:spMkLst>
        </pc:spChg>
      </pc:sldChg>
      <pc:sldChg chg="modSp add">
        <pc:chgData name="Sazzadur Ahamed" userId="8f49328ae0887731" providerId="LiveId" clId="{B183DD02-3410-4FA1-9C0D-0B5A4D254714}" dt="2026-01-13T08:44:13.818" v="240" actId="20577"/>
        <pc:sldMkLst>
          <pc:docMk/>
          <pc:sldMk cId="479742792" sldId="304"/>
        </pc:sldMkLst>
        <pc:spChg chg="mod">
          <ac:chgData name="Sazzadur Ahamed" userId="8f49328ae0887731" providerId="LiveId" clId="{B183DD02-3410-4FA1-9C0D-0B5A4D254714}" dt="2026-01-13T08:44:13.818" v="240" actId="20577"/>
          <ac:spMkLst>
            <pc:docMk/>
            <pc:sldMk cId="479742792" sldId="304"/>
            <ac:spMk id="2" creationId="{278529A4-43BD-CC77-7F19-34228C3DF8D1}"/>
          </ac:spMkLst>
        </pc:spChg>
      </pc:sldChg>
      <pc:sldMasterChg chg="modSldLayout">
        <pc:chgData name="Sazzadur Ahamed" userId="8f49328ae0887731" providerId="LiveId" clId="{B183DD02-3410-4FA1-9C0D-0B5A4D254714}" dt="2026-01-13T08:44:49.455" v="244" actId="1076"/>
        <pc:sldMasterMkLst>
          <pc:docMk/>
          <pc:sldMasterMk cId="0" sldId="2147483659"/>
        </pc:sldMasterMkLst>
        <pc:sldLayoutChg chg="delSp modSp">
          <pc:chgData name="Sazzadur Ahamed" userId="8f49328ae0887731" providerId="LiveId" clId="{B183DD02-3410-4FA1-9C0D-0B5A4D254714}" dt="2026-01-13T08:44:49.455" v="244" actId="1076"/>
          <pc:sldLayoutMkLst>
            <pc:docMk/>
            <pc:sldMasterMk cId="0" sldId="2147483659"/>
            <pc:sldLayoutMk cId="0" sldId="2147483672"/>
          </pc:sldLayoutMkLst>
          <pc:spChg chg="mod">
            <ac:chgData name="Sazzadur Ahamed" userId="8f49328ae0887731" providerId="LiveId" clId="{B183DD02-3410-4FA1-9C0D-0B5A4D254714}" dt="2026-01-13T08:44:49.455" v="244" actId="1076"/>
            <ac:spMkLst>
              <pc:docMk/>
              <pc:sldMasterMk cId="0" sldId="2147483659"/>
              <pc:sldLayoutMk cId="0" sldId="2147483672"/>
              <ac:spMk id="3" creationId="{00000000-0000-0000-0000-000000000000}"/>
            </ac:spMkLst>
          </pc:spChg>
          <pc:spChg chg="mod">
            <ac:chgData name="Sazzadur Ahamed" userId="8f49328ae0887731" providerId="LiveId" clId="{B183DD02-3410-4FA1-9C0D-0B5A4D254714}" dt="2026-01-13T08:44:43.471" v="243" actId="1076"/>
            <ac:spMkLst>
              <pc:docMk/>
              <pc:sldMasterMk cId="0" sldId="2147483659"/>
              <pc:sldLayoutMk cId="0" sldId="2147483672"/>
              <ac:spMk id="7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3.110" v="241" actId="478"/>
            <ac:spMkLst>
              <pc:docMk/>
              <pc:sldMasterMk cId="0" sldId="2147483659"/>
              <pc:sldLayoutMk cId="0" sldId="2147483672"/>
              <ac:spMk id="8" creationId="{00000000-0000-0000-0000-000000000000}"/>
            </ac:spMkLst>
          </pc:spChg>
          <pc:spChg chg="del">
            <ac:chgData name="Sazzadur Ahamed" userId="8f49328ae0887731" providerId="LiveId" clId="{B183DD02-3410-4FA1-9C0D-0B5A4D254714}" dt="2026-01-13T08:44:35.429" v="242" actId="478"/>
            <ac:spMkLst>
              <pc:docMk/>
              <pc:sldMasterMk cId="0" sldId="2147483659"/>
              <pc:sldLayoutMk cId="0" sldId="2147483672"/>
              <ac:spMk id="2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rgbClr val="7030A0"/>
                </a:solidFill>
              </a:rPr>
              <a:t>Edge AI-Powered Acoustic Surveillance System for Forest Protection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86200" y="3733800"/>
            <a:ext cx="4800600" cy="2438400"/>
          </a:xfrm>
        </p:spPr>
        <p:txBody>
          <a:bodyPr rtlCol="0">
            <a:normAutofit/>
          </a:bodyPr>
          <a:lstStyle/>
          <a:p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[Student Name 1]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ID: [Student ID]</a:t>
            </a:r>
          </a:p>
          <a:p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And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[Student Name 2]</a:t>
            </a: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ID: [Student ID]</a:t>
            </a:r>
          </a:p>
          <a:p>
            <a:endParaRPr lang="en-US" sz="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Department of CSE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Study/Literature Review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Motivation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this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Datasets, Tools and Techniques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600"/>
              <a:t>Forests cover 4.06 billion hectares (31% of Earth's land area), supporting 90% of terrestrial biodiversity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600"/>
              <a:t>Global forest loss: 10-25 million hectares/year; dominant driver is illegal logging</a:t>
            </a:r>
          </a:p>
          <a:p>
            <a:r>
              <a:rPr sz="1600"/>
              <a:t>Traditional monitoring relies on expensive, time-consuming manual ground patrolling</a:t>
            </a:r>
          </a:p>
          <a:p>
            <a:r>
              <a:rPr sz="1600"/>
              <a:t>Tree cutting, chainsaws, gunshots produce distinct acoustic signatures detectable by sensors</a:t>
            </a:r>
          </a:p>
          <a:p>
            <a:r>
              <a:rPr sz="1600"/>
              <a:t>Proposed: Edge AI acoustic surveillance system using TinyML on ESP32-S3 microcontroller</a:t>
            </a:r>
          </a:p>
          <a:p>
            <a:r>
              <a:rPr sz="1600"/>
              <a:t>System classifies 20 forest sound events in real-time with 9.5 ms inference latency</a:t>
            </a:r>
          </a:p>
          <a:p>
            <a:r>
              <a:rPr sz="1600"/>
              <a:t>Solar-powered autonomous operation with dual LoRa + GSM communication for alert delivery</a:t>
            </a:r>
          </a:p>
          <a:p>
            <a:r>
              <a:rPr sz="1600"/>
              <a:t>Target: Automated, low-cost, 24/7 forest protection in remote environments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Study/Literature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300"/>
              <a:t>Reviewed 33 peer-reviewed papers (2011-2026) from IEEE, Springer, MDPI, ACM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300"/>
              <a:t/>
            </a:r>
          </a:p>
          <a:p>
            <a:r>
              <a:rPr sz="1300"/>
              <a:t>Edge AI/TinyML Systems:</a:t>
            </a:r>
          </a:p>
          <a:p>
            <a:r>
              <a:rPr sz="1300"/>
              <a:t>  - Singh et al. (2024): STHT + SVM on 32-bit MCU, 96.61% acc, 5 classes</a:t>
            </a:r>
          </a:p>
          <a:p>
            <a:r>
              <a:rPr sz="1300"/>
              <a:t>  - Ayankoso et al. (2024): CNN+LSTM TinyML on RPi Pico, 89.14%, 3 classes</a:t>
            </a:r>
          </a:p>
          <a:p>
            <a:r>
              <a:rPr sz="1300"/>
              <a:t/>
            </a:r>
          </a:p>
          <a:p>
            <a:r>
              <a:rPr sz="1300"/>
              <a:t>Deep Learning Approaches:</a:t>
            </a:r>
          </a:p>
          <a:p>
            <a:r>
              <a:rPr sz="1300"/>
              <a:t>  - Mohmmad et al. (2026): TCN+Transformer, 97.48% but requires GPU, 4 classes</a:t>
            </a:r>
          </a:p>
          <a:p>
            <a:r>
              <a:rPr sz="1300"/>
              <a:t>  - ForNet (2026): CNN+XGBoost ensemble, 91.4%, 5 classes, server-based</a:t>
            </a:r>
          </a:p>
          <a:p>
            <a:r>
              <a:rPr sz="1300"/>
              <a:t/>
            </a:r>
          </a:p>
          <a:p>
            <a:r>
              <a:rPr sz="1300"/>
              <a:t>IoT &amp; Communication:</a:t>
            </a:r>
          </a:p>
          <a:p>
            <a:r>
              <a:rPr sz="1300"/>
              <a:t>  - TreeSpirit (2017): Three-tier WSN + Neural Network</a:t>
            </a:r>
          </a:p>
          <a:p>
            <a:r>
              <a:rPr sz="1300"/>
              <a:t>  - Andreadis et al. (2021): Ultra-low-power LoRaWAN, months of operation</a:t>
            </a:r>
          </a:p>
          <a:p>
            <a:r>
              <a:rPr sz="1300"/>
              <a:t/>
            </a:r>
          </a:p>
          <a:p>
            <a:r>
              <a:rPr sz="1300"/>
              <a:t>Key Finding: All systems limited to 2-5 classes; no true edge AI with comprehensive taxonomy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400"/>
              <a:t>Gap 1: Limited Sound Taxonomy - All systems classify only 2-5 classes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400"/>
              <a:t>         Real forests have 15+ distinct threat types (chainsaws, guns, vehicles, drones...)</a:t>
            </a:r>
          </a:p>
          <a:p>
            <a:r>
              <a:rPr sz="1400"/>
              <a:t/>
            </a:r>
          </a:p>
          <a:p>
            <a:r>
              <a:rPr sz="1400"/>
              <a:t>Gap 2: No True Edge AI - High-accuracy models (97%) need GPU/server hardware</a:t>
            </a:r>
          </a:p>
          <a:p>
            <a:r>
              <a:rPr sz="1400"/>
              <a:t>         Edge systems handle only 3 classes with limited accuracy</a:t>
            </a:r>
          </a:p>
          <a:p>
            <a:r>
              <a:rPr sz="1400"/>
              <a:t/>
            </a:r>
          </a:p>
          <a:p>
            <a:r>
              <a:rPr sz="1400"/>
              <a:t>Gap 3: No Solar Sustainability - Best battery life: 10 hours (Ayankoso 2024)</a:t>
            </a:r>
          </a:p>
          <a:p>
            <a:r>
              <a:rPr sz="1400"/>
              <a:t>         No complete solar energy budget for perpetual autonomous operation</a:t>
            </a:r>
          </a:p>
          <a:p>
            <a:r>
              <a:rPr sz="1400"/>
              <a:t/>
            </a:r>
          </a:p>
          <a:p>
            <a:r>
              <a:rPr sz="1400"/>
              <a:t>Gap 4: Single Communication - Systems use LoRa OR GSM, never both adaptively</a:t>
            </a:r>
          </a:p>
          <a:p>
            <a:r>
              <a:rPr sz="1400"/>
              <a:t/>
            </a:r>
          </a:p>
          <a:p>
            <a:r>
              <a:rPr sz="1400"/>
              <a:t>Gap 5: Analog Microphones - Prone to electrical noise; digital I2S underutilized</a:t>
            </a:r>
          </a:p>
          <a:p>
            <a:r>
              <a:rPr sz="1400"/>
              <a:t/>
            </a:r>
          </a:p>
          <a:p>
            <a:r>
              <a:rPr sz="1400"/>
              <a:t>Gap 6: No PCEN - Per-Channel Energy Normalization never applied to forest acoustics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400"/>
              <a:t>Objectives: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400"/>
              <a:t>1. Design 20-class acoustic classifier using SE-DS-CNN (27.4 KB INT8) on ESP32-S3</a:t>
            </a:r>
          </a:p>
          <a:p>
            <a:r>
              <a:rPr sz="1400"/>
              <a:t>2. Achieve sub-10 ms inference for real-time continuous monitoring</a:t>
            </a:r>
          </a:p>
          <a:p>
            <a:r>
              <a:rPr sz="1400"/>
              <a:t>3. Develop solar-sustained node (1.6 hrs sunlight/day for perpetual operation)</a:t>
            </a:r>
          </a:p>
          <a:p>
            <a:r>
              <a:rPr sz="1400"/>
              <a:t>4. Implement dual-mode LoRa + GSM with MOSFET power switching</a:t>
            </a:r>
          </a:p>
          <a:p>
            <a:r>
              <a:rPr sz="1400"/>
              <a:t>5. First application of PCEN for forest acoustic surveillance</a:t>
            </a:r>
          </a:p>
          <a:p>
            <a:r>
              <a:rPr sz="1400"/>
              <a:t>6. Comprehensive evaluation across 20-class taxonomy (largest in literature)</a:t>
            </a:r>
          </a:p>
          <a:p>
            <a:r>
              <a:rPr sz="1400"/>
              <a:t/>
            </a:r>
          </a:p>
          <a:p>
            <a:r>
              <a:rPr sz="1400"/>
              <a:t>Motivation:</a:t>
            </a:r>
          </a:p>
          <a:p>
            <a:r>
              <a:rPr sz="1400"/>
              <a:t>- 25 million hectares of forest lost annually due to illegal logging</a:t>
            </a:r>
          </a:p>
          <a:p>
            <a:r>
              <a:rPr sz="1400"/>
              <a:t>- Manual patrolling is expensive and cannot cover vast forest areas 24/7</a:t>
            </a:r>
          </a:p>
          <a:p>
            <a:r>
              <a:rPr sz="1400"/>
              <a:t>- Existing tech solutions are too limited (2-5 classes, server-dependent, short battery)</a:t>
            </a:r>
          </a:p>
          <a:p>
            <a:r>
              <a:rPr sz="1400"/>
              <a:t>- Need: autonomous, intelligent, edge-deployed monitoring for remote forests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400"/>
              <a:t>1. Most Comprehensive Sound Taxonomy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400"/>
              <a:t>   20 classes vs. max 5 in literature (4x more comprehensive)</a:t>
            </a:r>
          </a:p>
          <a:p>
            <a:r>
              <a:rPr sz="1400"/>
              <a:t/>
            </a:r>
          </a:p>
          <a:p>
            <a:r>
              <a:rPr sz="1400"/>
              <a:t>2. Smallest Edge-Deployed Model</a:t>
            </a:r>
          </a:p>
          <a:p>
            <a:r>
              <a:rPr sz="1400"/>
              <a:t>   27.4 KB INT8 with 9.5 ms inference - smallest and fastest on MCU</a:t>
            </a:r>
          </a:p>
          <a:p>
            <a:r>
              <a:rPr sz="1400"/>
              <a:t/>
            </a:r>
          </a:p>
          <a:p>
            <a:r>
              <a:rPr sz="1400"/>
              <a:t>3. First PCEN for Forest Acoustics</a:t>
            </a:r>
          </a:p>
          <a:p>
            <a:r>
              <a:rPr sz="1400"/>
              <a:t>   Automatic noise-floor adaptation for variable outdoor environments</a:t>
            </a:r>
          </a:p>
          <a:p>
            <a:r>
              <a:rPr sz="1400"/>
              <a:t/>
            </a:r>
          </a:p>
          <a:p>
            <a:r>
              <a:rPr sz="1400"/>
              <a:t>4. Best Power Sustainability</a:t>
            </a:r>
          </a:p>
          <a:p>
            <a:r>
              <a:rPr sz="1400"/>
              <a:t>   5.4 days battery autonomy; 1.6 hrs sunlight for perpetual operation (13x better)</a:t>
            </a:r>
          </a:p>
          <a:p>
            <a:r>
              <a:rPr sz="1400"/>
              <a:t/>
            </a:r>
          </a:p>
          <a:p>
            <a:r>
              <a:rPr sz="1400"/>
              <a:t>5. Only Dual-Mode Communication</a:t>
            </a:r>
          </a:p>
          <a:p>
            <a:r>
              <a:rPr sz="1400"/>
              <a:t>   Adaptive LoRa + GSM with MOSFET hardware power gating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Datasets,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DA11-A15F-956C-D182-0D413DDC78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300"/>
              <a:t>Dataset: 5,200 audio clips | 20 classes | 16 kHz, 16-bit mono | 2-sec windows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300"/>
              <a:t>Sources: ESC-50, UrbanSound8K, Rainforest Connection (RFCx), Google AudioSet</a:t>
            </a:r>
          </a:p>
          <a:p>
            <a:r>
              <a:rPr sz="1300"/>
              <a:t>Split: 70% Train / 15% Validation / 15% Test (stratified)</a:t>
            </a:r>
          </a:p>
          <a:p>
            <a:r>
              <a:rPr sz="1300"/>
              <a:t/>
            </a:r>
          </a:p>
          <a:p>
            <a:r>
              <a:rPr sz="1300"/>
              <a:t>Sound Classes: Forest ambient, Chainsaw, Axe, Handsaw, Gunshot, Explosive,</a:t>
            </a:r>
          </a:p>
          <a:p>
            <a:r>
              <a:rPr sz="1300"/>
              <a:t>  Heavy Machinery, Vehicle, Motorcycle, Drone, Speech, Shouting, Footsteps,</a:t>
            </a:r>
          </a:p>
          <a:p>
            <a:r>
              <a:rPr sz="1300"/>
              <a:t>  Footsteps-leaves, Digging, Tree Falling, Campfire, Hunting Dog, Walkie-talkie</a:t>
            </a:r>
          </a:p>
          <a:p>
            <a:r>
              <a:rPr sz="1300"/>
              <a:t/>
            </a:r>
          </a:p>
          <a:p>
            <a:r>
              <a:rPr sz="1300"/>
              <a:t>Hardware: ESP32-S3, INMP441 I2S mic, RFM95W LoRa, SIM800L GSM, Neo-6M GPS</a:t>
            </a:r>
          </a:p>
          <a:p>
            <a:r>
              <a:rPr sz="1300"/>
              <a:t/>
            </a:r>
          </a:p>
          <a:p>
            <a:r>
              <a:rPr sz="1300"/>
              <a:t>Software: Python, TensorFlow/Keras, TF Lite Micro, Edge Impulse, Arduino IDE</a:t>
            </a:r>
          </a:p>
          <a:p>
            <a:r>
              <a:rPr sz="1300"/>
              <a:t>  Librosa, NumPy, Scikit-learn, Matplotlib</a:t>
            </a:r>
          </a:p>
          <a:p>
            <a:r>
              <a:rPr sz="1300"/>
              <a:t/>
            </a:r>
          </a:p>
          <a:p>
            <a:r>
              <a:rPr sz="1300"/>
              <a:t>Techniques: PCEN/MFE/Log-Mel features, SE-DS-CNN, INT8 quantization, 5-fold CV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300"/>
              <a:t>Audio Pipeline:  INMP441 Mic -&gt; Pre-process -&gt; PCEN/MFE Features -&gt; SE-DS-CNN -&gt; Alert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300"/>
              <a:t/>
            </a:r>
          </a:p>
          <a:p>
            <a:r>
              <a:rPr sz="1300"/>
              <a:t>Model: SE-DS-CNN (Squeeze-and-Excitation Depthwise-Separable CNN)</a:t>
            </a:r>
          </a:p>
          <a:p>
            <a:r>
              <a:rPr sz="1300"/>
              <a:t>  - Depthwise-Separable Conv: 8-9x fewer computations vs standard CNN</a:t>
            </a:r>
          </a:p>
          <a:p>
            <a:r>
              <a:rPr sz="1300"/>
              <a:t>  - SE Block: channel attention for frequency band weighting (+3-5% accuracy)</a:t>
            </a:r>
          </a:p>
          <a:p>
            <a:r>
              <a:rPr sz="1300"/>
              <a:t>  - INT8 Quantization: 4x compression (110 KB -&gt; 27.4 KB), &lt;1% accuracy loss</a:t>
            </a:r>
          </a:p>
          <a:p>
            <a:r>
              <a:rPr sz="1300"/>
              <a:t/>
            </a:r>
          </a:p>
          <a:p>
            <a:r>
              <a:rPr sz="1300"/>
              <a:t>Duty Cycle Operation:</a:t>
            </a:r>
          </a:p>
          <a:p>
            <a:r>
              <a:rPr sz="1300"/>
              <a:t>  Deep Sleep (8s, 15uA) -&gt; Wake &amp; Sample (2s, 100mA) -&gt; Inference (9.5ms)</a:t>
            </a:r>
          </a:p>
          <a:p>
            <a:r>
              <a:rPr sz="1300"/>
              <a:t>  -&gt; Alert if threat (LoRa 20mA / GSM 350mA, 15s) -&gt; Return to Sleep</a:t>
            </a:r>
          </a:p>
          <a:p>
            <a:r>
              <a:rPr sz="1300"/>
              <a:t/>
            </a:r>
          </a:p>
          <a:p>
            <a:r>
              <a:rPr sz="1300"/>
              <a:t>Communication: LoRa primary (low power) -&gt; GSM fallback (if no gateway)</a:t>
            </a:r>
          </a:p>
          <a:p>
            <a:r>
              <a:rPr sz="1300"/>
              <a:t>  MOSFET power switch physically disconnects GSM when not needed (0mA standby)</a:t>
            </a:r>
          </a:p>
          <a:p>
            <a:r>
              <a:rPr sz="1300"/>
              <a:t/>
            </a:r>
          </a:p>
          <a:p>
            <a:r>
              <a:rPr sz="1300"/>
              <a:t>Power: LiFePO4 battery + 3-panel solar array | 5.4 days without solar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7A5-8A8B-275D-FDE8-D3A5439C1B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sz="1400"/>
              <a:t>Preliminary Results (Phase 1):</a:t>
            </a: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sz="1400"/>
              <a:t>  Overall Accuracy: 88.21% | Precision: 91.26% | F1-Score: 89.84%</a:t>
            </a:r>
          </a:p>
          <a:p>
            <a:r>
              <a:rPr sz="1400"/>
              <a:t>  11/20 classes achieved perfect F1 = 1.00 (axe, explosive, machinery, speech...)</a:t>
            </a:r>
          </a:p>
          <a:p>
            <a:r>
              <a:rPr sz="1400"/>
              <a:t>  Model: 27.4 KB | Inference: 9.5 ms | Deep Sleep: 15-20 uA</a:t>
            </a:r>
          </a:p>
          <a:p>
            <a:r>
              <a:rPr sz="1400"/>
              <a:t/>
            </a:r>
          </a:p>
          <a:p>
            <a:r>
              <a:rPr sz="1400"/>
              <a:t>Expected Final Outcomes:</a:t>
            </a:r>
          </a:p>
          <a:p>
            <a:r>
              <a:rPr sz="1400"/>
              <a:t>1. Field-deployed 20-class acoustic surveillance system in real forest</a:t>
            </a:r>
          </a:p>
          <a:p>
            <a:r>
              <a:rPr sz="1400"/>
              <a:t>2. Improved accuracy for challenging classes (chainsaw 82% -&gt; 90%+)</a:t>
            </a:r>
          </a:p>
          <a:p>
            <a:r>
              <a:rPr sz="1400"/>
              <a:t>3. Validated solar sustainability with &gt;30 days continuous autonomous operation</a:t>
            </a:r>
          </a:p>
          <a:p>
            <a:r>
              <a:rPr sz="1400"/>
              <a:t>4. Cloud dashboard for real-time alert visualization and monitoring</a:t>
            </a:r>
          </a:p>
          <a:p>
            <a:r>
              <a:rPr sz="1400"/>
              <a:t>5. Mobile app for forest officers to receive threat notifications</a:t>
            </a:r>
          </a:p>
          <a:p>
            <a:r>
              <a:rPr sz="1400"/>
              <a:t/>
            </a:r>
          </a:p>
          <a:p>
            <a:r>
              <a:rPr sz="1400"/>
              <a:t>Comparison: Our system is 4x more classes, 13x better battery, smallest model</a:t>
            </a:r>
          </a:p>
          <a:p>
            <a:r>
              <a:rPr sz="1400"/>
              <a:t>  vs. all 33 papers reviewed in the 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836</TotalTime>
  <Words>93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New Microsoft PowerPoint Presentation</vt:lpstr>
      <vt:lpstr>Weather Prediction Based on Real Time Data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 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Sazzadur Ahamed</cp:lastModifiedBy>
  <cp:revision>252</cp:revision>
  <dcterms:created xsi:type="dcterms:W3CDTF">2011-07-17T02:56:35Z</dcterms:created>
  <dcterms:modified xsi:type="dcterms:W3CDTF">2026-01-13T08:45:21Z</dcterms:modified>
</cp:coreProperties>
</file>